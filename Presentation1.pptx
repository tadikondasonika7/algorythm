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15"/>
  </p:handoutMasterIdLst>
  <p:sldIdLst>
    <p:sldId id="416" r:id="rId3"/>
    <p:sldId id="417" r:id="rId4"/>
    <p:sldId id="400" r:id="rId5"/>
    <p:sldId id="402" r:id="rId6"/>
    <p:sldId id="418" r:id="rId8"/>
    <p:sldId id="419" r:id="rId9"/>
    <p:sldId id="420" r:id="rId10"/>
    <p:sldId id="421" r:id="rId11"/>
    <p:sldId id="440" r:id="rId12"/>
    <p:sldId id="424" r:id="rId13"/>
    <p:sldId id="443" r:id="rId14"/>
  </p:sldIdLst>
  <p:sldSz cx="9144000" cy="5143500" type="screen16x9"/>
  <p:notesSz cx="6858000" cy="9144000"/>
  <p:embeddedFontLst>
    <p:embeddedFont>
      <p:font typeface="Open Sans" panose="020B0606030504020204" charset="0"/>
      <p:regular r:id="rId20"/>
      <p:bold r:id="rId21"/>
    </p:embeddedFont>
    <p:embeddedFont>
      <p:font typeface="Philosopher" panose="00000500000000000000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42" userDrawn="1">
          <p15:clr>
            <a:srgbClr val="A4A3A4"/>
          </p15:clr>
        </p15:guide>
        <p15:guide id="2" pos="3084" userDrawn="1">
          <p15:clr>
            <a:srgbClr val="A4A3A4"/>
          </p15:clr>
        </p15:guide>
        <p15:guide id="3" orient="horz" pos="3087" userDrawn="1">
          <p15:clr>
            <a:srgbClr val="A4A3A4"/>
          </p15:clr>
        </p15:guide>
        <p15:guide id="4" orient="horz" pos="463" userDrawn="1">
          <p15:clr>
            <a:srgbClr val="A4A3A4"/>
          </p15:clr>
        </p15:guide>
        <p15:guide id="5" orient="horz" pos="2890" userDrawn="1">
          <p15:clr>
            <a:srgbClr val="A4A3A4"/>
          </p15:clr>
        </p15:guide>
        <p15:guide id="6" orient="horz" pos="2709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orient="horz" pos="1620" userDrawn="1">
          <p15:clr>
            <a:srgbClr val="A4A3A4"/>
          </p15:clr>
        </p15:guide>
        <p15:guide id="9" orient="horz" pos="721" userDrawn="1">
          <p15:clr>
            <a:srgbClr val="A4A3A4"/>
          </p15:clr>
        </p15:guide>
        <p15:guide id="10" pos="3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2A"/>
    <a:srgbClr val="C6AF92"/>
    <a:srgbClr val="1D1D1E"/>
    <a:srgbClr val="1C1C1E"/>
    <a:srgbClr val="181718"/>
    <a:srgbClr val="FCC896"/>
    <a:srgbClr val="2B2B2B"/>
    <a:srgbClr val="0B0B0B"/>
    <a:srgbClr val="CC9868"/>
    <a:srgbClr val="FCC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5244" autoAdjust="0"/>
  </p:normalViewPr>
  <p:slideViewPr>
    <p:cSldViewPr snapToGrid="0" showGuides="1">
      <p:cViewPr>
        <p:scale>
          <a:sx n="96" d="100"/>
          <a:sy n="96" d="100"/>
        </p:scale>
        <p:origin x="1325" y="274"/>
      </p:cViewPr>
      <p:guideLst>
        <p:guide pos="142"/>
        <p:guide pos="3084"/>
        <p:guide orient="horz" pos="3087"/>
        <p:guide orient="horz" pos="463"/>
        <p:guide orient="horz" pos="2890"/>
        <p:guide orient="horz" pos="2709"/>
        <p:guide pos="2880"/>
        <p:guide orient="horz" pos="1620"/>
        <p:guide orient="horz" pos="721"/>
        <p:guide pos="3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1.xml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Philosopher" panose="000005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Philosopher" panose="000005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095067"/>
            <a:ext cx="8686800" cy="1789899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1305017"/>
            <a:ext cx="9144000" cy="13760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3199290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169981" y="1095067"/>
            <a:ext cx="2745419" cy="1789899"/>
          </a:xfrm>
          <a:prstGeom prst="roundRect">
            <a:avLst>
              <a:gd name="adj" fmla="val 4464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0" y="1374461"/>
            <a:ext cx="3889744" cy="2884967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3778103" y="1753689"/>
            <a:ext cx="666307" cy="21265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8915400" y="1375144"/>
            <a:ext cx="228600" cy="288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4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99484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2"/>
          </p:nvPr>
        </p:nvSpPr>
        <p:spPr>
          <a:xfrm>
            <a:off x="3237615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3"/>
          </p:nvPr>
        </p:nvSpPr>
        <p:spPr>
          <a:xfrm>
            <a:off x="6175745" y="1137598"/>
            <a:ext cx="2642191" cy="1598514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0B0B"/>
            </a:gs>
            <a:gs pos="100000">
              <a:srgbClr val="2B2B2B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D955F040-ED43-464F-96F2-927121FE6F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defRPr>
            </a:lvl1pPr>
          </a:lstStyle>
          <a:p>
            <a:fld id="{C95CE31C-667C-455E-B312-3B73BAEC6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Open Sans" panose="020B0606030504020204" charset="0"/>
          <a:ea typeface="Philosopher" panose="00000500000000000000" charset="0"/>
          <a:cs typeface="Philosopher" panose="00000500000000000000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Philosopher" panose="00000500000000000000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jpe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"/>
          <a:srcRect t="11284" b="11844"/>
          <a:stretch>
            <a:fillRect/>
          </a:stretch>
        </p:blipFill>
        <p:spPr>
          <a:xfrm flipH="1" flipV="1">
            <a:off x="3806952" y="0"/>
            <a:ext cx="5010912" cy="5143500"/>
          </a:xfrm>
          <a:prstGeom prst="rect">
            <a:avLst/>
          </a:prstGeom>
        </p:spPr>
      </p:pic>
      <p:sp>
        <p:nvSpPr>
          <p:cNvPr id="109" name="文本框 108"/>
          <p:cNvSpPr txBox="1"/>
          <p:nvPr/>
        </p:nvSpPr>
        <p:spPr>
          <a:xfrm>
            <a:off x="132504" y="95682"/>
            <a:ext cx="76516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YOUR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LOGO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42379" y="1608651"/>
            <a:ext cx="288163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AlgoRythm</a:t>
            </a:r>
            <a:endParaRPr lang="en-US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14797" y="2874552"/>
            <a:ext cx="434516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US" sz="1200" b="1">
                <a:solidFill>
                  <a:schemeClr val="bg1"/>
                </a:solidFill>
                <a:latin typeface="+mj-ea"/>
                <a:cs typeface="+mj-ea"/>
              </a:rPr>
              <a:t>Team Members:</a:t>
            </a:r>
            <a:endParaRPr lang="en-US" altLang="en-US" sz="1200" b="1">
              <a:solidFill>
                <a:schemeClr val="bg1"/>
              </a:solidFill>
              <a:latin typeface="+mj-ea"/>
              <a:cs typeface="+mj-ea"/>
            </a:endParaRPr>
          </a:p>
          <a:p>
            <a:pPr defTabSz="685800">
              <a:lnSpc>
                <a:spcPct val="150000"/>
              </a:lnSpc>
            </a:pPr>
            <a:r>
              <a:rPr lang="en-US" altLang="en-US" sz="1200">
                <a:solidFill>
                  <a:schemeClr val="bg1"/>
                </a:solidFill>
                <a:latin typeface="+mj-ea"/>
                <a:cs typeface="+mj-ea"/>
              </a:rPr>
              <a:t>Sukhavasi Balasri (CSE – 4th Year)</a:t>
            </a:r>
            <a:endParaRPr lang="en-US" altLang="en-US" sz="1200">
              <a:solidFill>
                <a:schemeClr val="bg1"/>
              </a:solidFill>
              <a:latin typeface="+mj-ea"/>
              <a:cs typeface="+mj-ea"/>
            </a:endParaRPr>
          </a:p>
          <a:p>
            <a:pPr defTabSz="685800">
              <a:lnSpc>
                <a:spcPct val="150000"/>
              </a:lnSpc>
            </a:pPr>
            <a:r>
              <a:rPr lang="en-US" altLang="en-US" sz="1200">
                <a:solidFill>
                  <a:schemeClr val="bg1"/>
                </a:solidFill>
                <a:latin typeface="+mj-ea"/>
                <a:cs typeface="+mj-ea"/>
              </a:rPr>
              <a:t>Swargam Vishnu Priya </a:t>
            </a:r>
            <a:r>
              <a:rPr lang="en-US" altLang="en-US" sz="1200">
                <a:solidFill>
                  <a:schemeClr val="bg1"/>
                </a:solidFill>
                <a:latin typeface="+mj-ea"/>
                <a:cs typeface="+mj-ea"/>
                <a:sym typeface="+mn-ea"/>
              </a:rPr>
              <a:t>(CSE – 4th Year)</a:t>
            </a:r>
            <a:endParaRPr lang="en-US" altLang="en-US" sz="1200">
              <a:solidFill>
                <a:schemeClr val="bg1"/>
              </a:solidFill>
              <a:latin typeface="+mj-ea"/>
              <a:cs typeface="+mj-ea"/>
            </a:endParaRPr>
          </a:p>
          <a:p>
            <a:pPr defTabSz="685800">
              <a:lnSpc>
                <a:spcPct val="150000"/>
              </a:lnSpc>
            </a:pPr>
            <a:r>
              <a:rPr lang="en-US" altLang="en-US" sz="1200">
                <a:solidFill>
                  <a:schemeClr val="bg1"/>
                </a:solidFill>
                <a:latin typeface="+mj-ea"/>
                <a:cs typeface="+mj-ea"/>
              </a:rPr>
              <a:t>Tadikonda Sonika </a:t>
            </a:r>
            <a:r>
              <a:rPr lang="en-US" altLang="en-US" sz="1200">
                <a:solidFill>
                  <a:schemeClr val="bg1"/>
                </a:solidFill>
                <a:latin typeface="+mj-ea"/>
                <a:cs typeface="+mj-ea"/>
                <a:sym typeface="+mn-ea"/>
              </a:rPr>
              <a:t>(CSE – 4th Year)</a:t>
            </a:r>
            <a:endParaRPr lang="en-US" altLang="en-US" sz="1200">
              <a:solidFill>
                <a:schemeClr val="bg1"/>
              </a:solidFill>
              <a:latin typeface="+mj-ea"/>
              <a:cs typeface="+mj-ea"/>
            </a:endParaRPr>
          </a:p>
          <a:p>
            <a:pPr defTabSz="685800">
              <a:lnSpc>
                <a:spcPct val="150000"/>
              </a:lnSpc>
            </a:pPr>
            <a:endParaRPr lang="en-US" altLang="en-US" sz="1200">
              <a:solidFill>
                <a:schemeClr val="bg1"/>
              </a:solidFill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/>
        </p:nvSpPr>
        <p:spPr bwMode="auto">
          <a:xfrm>
            <a:off x="2153920" y="170180"/>
            <a:ext cx="387413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en-US" sz="4800" b="1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Open Sans" panose="020B0606030504020204" charset="0"/>
              </a:rPr>
              <a:t>Introduction</a:t>
            </a:r>
            <a:endParaRPr lang="en-US" altLang="en-US" sz="4800" b="1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32504" y="95682"/>
            <a:ext cx="765162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YOUR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LOGO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0220" y="1214755"/>
            <a:ext cx="7251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AI-Based Mood </a:t>
            </a:r>
            <a:r>
              <a:rPr lang="en-US" altLang="en-US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Music Player is a smart system that detects the user’s emotional state using Artificial Intelligence.</a:t>
            </a:r>
            <a:endParaRPr lang="en-US" altLang="en-US">
              <a:solidFill>
                <a:schemeClr val="accent2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8965" y="2201545"/>
            <a:ext cx="7978140" cy="177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It identifies mood through facial expressions (or user input)</a:t>
            </a:r>
            <a:endParaRPr lang="en-US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Based on the detected emotion, the system automatically selects and plays suitable music</a:t>
            </a:r>
            <a:endParaRPr lang="en-US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The main aim is to enhance user experience and improve emotional well-being</a:t>
            </a:r>
            <a:endParaRPr lang="en-US" altLang="en-US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1251034" y="199887"/>
            <a:ext cx="60782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400" b="1" cap="all">
                <a:solidFill>
                  <a:srgbClr val="FCC896"/>
                </a:solidFill>
                <a:uFillTx/>
                <a:latin typeface="Philosopher" panose="00000500000000000000" charset="0"/>
                <a:ea typeface="+mj-ea"/>
                <a:cs typeface="Philosopher" panose="00000500000000000000" charset="0"/>
                <a:sym typeface="+mn-lt"/>
              </a:rPr>
              <a:t>Problem Statement</a:t>
            </a:r>
            <a:endParaRPr lang="en-US" altLang="en-US" sz="4400" b="1" cap="all">
              <a:solidFill>
                <a:srgbClr val="FCC896"/>
              </a:solidFill>
              <a:uFillTx/>
              <a:latin typeface="Philosopher" panose="00000500000000000000" charset="0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93115" y="1556385"/>
            <a:ext cx="6993890" cy="28511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685800">
              <a:lnSpc>
                <a:spcPct val="150000"/>
              </a:lnSpc>
            </a:pPr>
            <a:r>
              <a:rPr lang="en-US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Existing music apps do not understand user emotions effectively.</a:t>
            </a:r>
            <a:endParaRPr lang="en-US" altLang="en-US" sz="1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defTabSz="685800">
              <a:lnSpc>
                <a:spcPct val="150000"/>
              </a:lnSpc>
            </a:pPr>
            <a:endParaRPr lang="en-US" altLang="en-US" sz="1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4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Users manually select music based on their current mood</a:t>
            </a:r>
            <a:endParaRPr lang="en-US" altLang="en-US" sz="14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4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This process is time-consuming and not always accurate</a:t>
            </a:r>
            <a:endParaRPr lang="en-US" altLang="en-US" sz="14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AutoNum type="arabicPeriod"/>
            </a:pPr>
            <a:r>
              <a:rPr lang="en-US" altLang="en-US" sz="14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Music playlists are not personalized according to real-time emotional state</a:t>
            </a:r>
            <a:endParaRPr lang="en-US" altLang="en-US" sz="14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AutoNum type="arabicPeriod"/>
            </a:pPr>
            <a:r>
              <a:rPr lang="en-US" altLang="en-US" sz="14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There is no automatic system that adapts music based on user emotions in real-time</a:t>
            </a:r>
            <a:endParaRPr lang="en-US" altLang="en-US" sz="14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2504" y="95682"/>
            <a:ext cx="765162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YOUR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LOGO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404495" y="146685"/>
            <a:ext cx="28409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Proposed Solution</a:t>
            </a:r>
            <a:endParaRPr lang="en-US" altLang="en-US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25974" y="3065364"/>
            <a:ext cx="878169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The proposed system uses Artificial Intelligence to automatically detect user emotions and recommend suitable music.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The AI system detects the user’s mood automatically using facial expressions or input data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It classifies emotions into different categories such as: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😊 </a:t>
            </a: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Happy   </a:t>
            </a:r>
            <a:r>
              <a: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😢 </a:t>
            </a: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Sad    </a:t>
            </a:r>
            <a:r>
              <a: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😡 </a:t>
            </a: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Angry   </a:t>
            </a:r>
            <a:r>
              <a: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😐 </a:t>
            </a: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Neutral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Based on the detected emotion, the system plays a matching playlist automatically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This provides a personalized and real-time music experience for the use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3349" y="605655"/>
            <a:ext cx="799465" cy="4445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 descr="WhatsApp Image 2026-06-11 at 12.16.50 AM (2)"/>
          <p:cNvPicPr>
            <a:picLocks noChangeAspect="1"/>
          </p:cNvPicPr>
          <p:nvPr>
            <p:ph type="pic" sz="quarter" idx="11"/>
          </p:nvPr>
        </p:nvPicPr>
        <p:blipFill>
          <a:blip r:embed="rId1"/>
          <a:stretch>
            <a:fillRect/>
          </a:stretch>
        </p:blipFill>
        <p:spPr>
          <a:xfrm>
            <a:off x="220345" y="1309370"/>
            <a:ext cx="2642235" cy="1426845"/>
          </a:xfrm>
          <a:prstGeom prst="rect">
            <a:avLst/>
          </a:prstGeom>
        </p:spPr>
      </p:pic>
      <p:pic>
        <p:nvPicPr>
          <p:cNvPr id="7" name="Picture Placeholder 6" descr="WhatsApp Image 2026-06-11 at 12.16.50 AM (1)"/>
          <p:cNvPicPr>
            <a:picLocks noChangeAspect="1"/>
          </p:cNvPicPr>
          <p:nvPr>
            <p:ph type="pic" sz="quarter" idx="12"/>
          </p:nvPr>
        </p:nvPicPr>
        <p:blipFill>
          <a:blip r:embed="rId2"/>
          <a:stretch>
            <a:fillRect/>
          </a:stretch>
        </p:blipFill>
        <p:spPr>
          <a:xfrm>
            <a:off x="3395980" y="1137285"/>
            <a:ext cx="2325370" cy="1598930"/>
          </a:xfrm>
          <a:prstGeom prst="rect">
            <a:avLst/>
          </a:prstGeom>
        </p:spPr>
      </p:pic>
      <p:pic>
        <p:nvPicPr>
          <p:cNvPr id="10" name="Picture Placeholder 9" descr="WhatsApp Image 2026-06-11 at 12.16.50 AM"/>
          <p:cNvPicPr>
            <a:picLocks noChangeAspect="1"/>
          </p:cNvPicPr>
          <p:nvPr>
            <p:ph type="pic" sz="quarter" idx="13"/>
          </p:nvPr>
        </p:nvPicPr>
        <p:blipFill>
          <a:blip r:embed="rId3"/>
          <a:stretch>
            <a:fillRect/>
          </a:stretch>
        </p:blipFill>
        <p:spPr>
          <a:xfrm>
            <a:off x="6176010" y="1299210"/>
            <a:ext cx="2642235" cy="1273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17396" y="1115057"/>
            <a:ext cx="3509207" cy="3509207"/>
            <a:chOff x="2511009" y="754818"/>
            <a:chExt cx="4121982" cy="4121982"/>
          </a:xfrm>
        </p:grpSpPr>
        <p:sp>
          <p:nvSpPr>
            <p:cNvPr id="15" name="椭圆 14"/>
            <p:cNvSpPr/>
            <p:nvPr/>
          </p:nvSpPr>
          <p:spPr>
            <a:xfrm>
              <a:off x="3073512" y="1317321"/>
              <a:ext cx="2996977" cy="2996977"/>
            </a:xfrm>
            <a:prstGeom prst="ellipse">
              <a:avLst/>
            </a:prstGeom>
            <a:gradFill flip="none" rotWithShape="1">
              <a:gsLst>
                <a:gs pos="51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2511009" y="754818"/>
              <a:ext cx="4121982" cy="4121982"/>
            </a:xfrm>
            <a:prstGeom prst="ellipse">
              <a:avLst/>
            </a:prstGeom>
            <a:noFill/>
            <a:ln w="12700" cap="flat" cmpd="sng" algn="ctr">
              <a:gradFill flip="none" rotWithShape="1">
                <a:gsLst>
                  <a:gs pos="0">
                    <a:schemeClr val="accent1"/>
                  </a:gs>
                  <a:gs pos="93000">
                    <a:schemeClr val="accent1">
                      <a:alpha val="0"/>
                    </a:schemeClr>
                  </a:gs>
                  <a:gs pos="7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white"/>
                </a:solidFill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611705" y="1853543"/>
              <a:ext cx="1920590" cy="19205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00">
                <a:cs typeface="Philosopher" panose="00000500000000000000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4226" y="1042257"/>
            <a:ext cx="2710357" cy="945515"/>
            <a:chOff x="108451" y="1301278"/>
            <a:chExt cx="2710357" cy="945515"/>
          </a:xfrm>
        </p:grpSpPr>
        <p:sp>
          <p:nvSpPr>
            <p:cNvPr id="18" name="文本框 17"/>
            <p:cNvSpPr txBox="1"/>
            <p:nvPr/>
          </p:nvSpPr>
          <p:spPr>
            <a:xfrm>
              <a:off x="486911" y="1913418"/>
              <a:ext cx="1953895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8451" y="1593666"/>
              <a:ext cx="2710357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r>
                <a:rPr lang="en-US" altLang="en-US" sz="1600">
                  <a:cs typeface="Philosopher" panose="00000500000000000000" charset="0"/>
                </a:rPr>
                <a:t>HTML, CSS, JavaScript (Frontend)</a:t>
              </a:r>
              <a:endParaRPr lang="en-US" altLang="en-US" sz="1600">
                <a:cs typeface="Philosopher" panose="00000500000000000000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63640" y="1042257"/>
            <a:ext cx="2710357" cy="945616"/>
            <a:chOff x="108451" y="1301278"/>
            <a:chExt cx="2710357" cy="945616"/>
          </a:xfrm>
        </p:grpSpPr>
        <p:sp>
          <p:nvSpPr>
            <p:cNvPr id="24" name="文本框 23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8451" y="1593666"/>
              <a:ext cx="2710357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r>
                <a:rPr lang="en-US" altLang="zh-CN" sz="1600">
                  <a:cs typeface="Philosopher" panose="00000500000000000000" charset="0"/>
                </a:rPr>
                <a:t>MIDI Libraries</a:t>
              </a:r>
              <a:endParaRPr lang="en-US" altLang="zh-CN" sz="1600">
                <a:cs typeface="Philosopher" panose="00000500000000000000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4226" y="3034089"/>
            <a:ext cx="2710357" cy="945616"/>
            <a:chOff x="108451" y="1301278"/>
            <a:chExt cx="2710357" cy="945616"/>
          </a:xfrm>
        </p:grpSpPr>
        <p:sp>
          <p:nvSpPr>
            <p:cNvPr id="28" name="文本框 27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8451" y="1593666"/>
              <a:ext cx="2710357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r>
                <a:rPr lang="en-US" altLang="en-US" sz="1600">
                  <a:cs typeface="Philosopher" panose="00000500000000000000" charset="0"/>
                </a:rPr>
                <a:t>Audio Processing, AI Algorithms</a:t>
              </a:r>
              <a:endParaRPr lang="en-US" altLang="en-US" sz="1600">
                <a:cs typeface="Philosopher" panose="00000500000000000000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263640" y="3034089"/>
            <a:ext cx="2710357" cy="945616"/>
            <a:chOff x="108451" y="1301278"/>
            <a:chExt cx="2710357" cy="945616"/>
          </a:xfrm>
        </p:grpSpPr>
        <p:sp>
          <p:nvSpPr>
            <p:cNvPr id="32" name="文本框 31"/>
            <p:cNvSpPr txBox="1"/>
            <p:nvPr/>
          </p:nvSpPr>
          <p:spPr>
            <a:xfrm>
              <a:off x="486648" y="1913519"/>
              <a:ext cx="1953963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 algn="ctr"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8451" y="1593666"/>
              <a:ext cx="2710357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algn="ctr"/>
              <a:r>
                <a:rPr lang="en-US" altLang="en-US" sz="1600">
                  <a:cs typeface="Philosopher" panose="00000500000000000000" charset="0"/>
                </a:rPr>
                <a:t>FastAPI,Python</a:t>
              </a:r>
              <a:endParaRPr lang="en-US" altLang="en-US" sz="1600">
                <a:cs typeface="Philosopher" panose="00000500000000000000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70139" y="1301278"/>
              <a:ext cx="986980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457200"/>
              <a:endParaRPr lang="en-US" altLang="zh-CN" sz="3200" b="1">
                <a:ln w="3175">
                  <a:gradFill>
                    <a:gsLst>
                      <a:gs pos="0">
                        <a:srgbClr val="FAD0B5"/>
                      </a:gs>
                      <a:gs pos="70000">
                        <a:srgbClr val="F7E7E1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Open Sans" panose="020B0606030504020204" charset="0"/>
                <a:ea typeface="Open Sans" panose="020B0606030504020204" charset="0"/>
                <a:cs typeface="Philosopher" panose="00000500000000000000" charset="0"/>
                <a:sym typeface="Open Sans" panose="020B060603050402020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3810150" y="2250133"/>
            <a:ext cx="1523699" cy="1076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n w="38100">
                  <a:noFill/>
                </a:ln>
                <a:solidFill>
                  <a:srgbClr val="181718"/>
                </a:solidFill>
                <a:latin typeface="+mj-ea"/>
                <a:ea typeface="+mj-ea"/>
                <a:cs typeface="Philosopher" panose="00000500000000000000" charset="0"/>
                <a:sym typeface="+mn-lt"/>
              </a:rPr>
              <a:t>AI MUSIC</a:t>
            </a:r>
            <a:endParaRPr lang="en-US" sz="3200">
              <a:ln w="38100">
                <a:noFill/>
              </a:ln>
              <a:solidFill>
                <a:srgbClr val="181718"/>
              </a:soli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grpSp>
        <p:nvGrpSpPr>
          <p:cNvPr id="41" name="组合 40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04495" y="146685"/>
            <a:ext cx="28409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Technologies Used</a:t>
            </a:r>
            <a:endParaRPr lang="en-US" altLang="en-US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25199" y="260215"/>
            <a:ext cx="0" cy="447472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4607015" y="1716088"/>
            <a:ext cx="404421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171450" indent="-1714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Webcam captures the user’s face in real-time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Face detection module identifies and processes facial expressions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AI model predicts the user’s emotion based on the input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Flask backend processes the prediction and manages system logic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Music player selects and plays songs based on the detected mood</a:t>
            </a:r>
            <a:endParaRPr lang="en-US" altLang="en-US" sz="12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grpSp>
        <p:nvGrpSpPr>
          <p:cNvPr id="40" name="组合 39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04495" y="146685"/>
            <a:ext cx="28409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System Architecture</a:t>
            </a:r>
            <a:endParaRPr lang="en-US" altLang="en-US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25199" y="260215"/>
            <a:ext cx="0" cy="447472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 descr="WhatsApp Image 2026-06-11 at 12.32.37 AM"/>
          <p:cNvPicPr>
            <a:picLocks noChangeAspect="1"/>
          </p:cNvPicPr>
          <p:nvPr>
            <p:ph type="pic" sz="quarter" idx="11"/>
          </p:nvPr>
        </p:nvPicPr>
        <p:blipFill>
          <a:blip r:embed="rId3"/>
          <a:stretch>
            <a:fillRect/>
          </a:stretch>
        </p:blipFill>
        <p:spPr>
          <a:xfrm>
            <a:off x="611505" y="1344930"/>
            <a:ext cx="3890010" cy="2914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/>
        </p:nvSpPr>
        <p:spPr>
          <a:xfrm>
            <a:off x="0" y="2588558"/>
            <a:ext cx="2985248" cy="2554942"/>
          </a:xfrm>
          <a:custGeom>
            <a:avLst/>
            <a:gdLst>
              <a:gd name="connsiteX0" fmla="*/ 763121 w 2985248"/>
              <a:gd name="connsiteY0" fmla="*/ 0 h 2554942"/>
              <a:gd name="connsiteX1" fmla="*/ 2985248 w 2985248"/>
              <a:gd name="connsiteY1" fmla="*/ 2222127 h 2554942"/>
              <a:gd name="connsiteX2" fmla="*/ 2973776 w 2985248"/>
              <a:gd name="connsiteY2" fmla="*/ 2449327 h 2554942"/>
              <a:gd name="connsiteX3" fmla="*/ 2957657 w 2985248"/>
              <a:gd name="connsiteY3" fmla="*/ 2554942 h 2554942"/>
              <a:gd name="connsiteX4" fmla="*/ 0 w 2985248"/>
              <a:gd name="connsiteY4" fmla="*/ 2554942 h 2554942"/>
              <a:gd name="connsiteX5" fmla="*/ 0 w 2985248"/>
              <a:gd name="connsiteY5" fmla="*/ 137355 h 2554942"/>
              <a:gd name="connsiteX6" fmla="*/ 102328 w 2985248"/>
              <a:gd name="connsiteY6" fmla="*/ 99903 h 2554942"/>
              <a:gd name="connsiteX7" fmla="*/ 763121 w 2985248"/>
              <a:gd name="connsiteY7" fmla="*/ 0 h 2554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85248" h="2554942">
                <a:moveTo>
                  <a:pt x="763121" y="0"/>
                </a:moveTo>
                <a:cubicBezTo>
                  <a:pt x="1990368" y="0"/>
                  <a:pt x="2985248" y="994880"/>
                  <a:pt x="2985248" y="2222127"/>
                </a:cubicBezTo>
                <a:cubicBezTo>
                  <a:pt x="2985248" y="2298830"/>
                  <a:pt x="2981362" y="2374625"/>
                  <a:pt x="2973776" y="2449327"/>
                </a:cubicBezTo>
                <a:lnTo>
                  <a:pt x="2957657" y="2554942"/>
                </a:lnTo>
                <a:lnTo>
                  <a:pt x="0" y="2554942"/>
                </a:lnTo>
                <a:lnTo>
                  <a:pt x="0" y="137355"/>
                </a:lnTo>
                <a:lnTo>
                  <a:pt x="102328" y="99903"/>
                </a:lnTo>
                <a:cubicBezTo>
                  <a:pt x="311073" y="34976"/>
                  <a:pt x="533012" y="0"/>
                  <a:pt x="76312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Philosopher" panose="000005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91535" y="937260"/>
            <a:ext cx="5691505" cy="2912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Real-time mood detection using AI</a:t>
            </a:r>
            <a:endParaRPr lang="en-US" altLang="en-US" sz="1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Automatic music switching based on detected emotion</a:t>
            </a:r>
            <a:endParaRPr lang="en-US" altLang="en-US" sz="1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Simple and user-friendly interface</a:t>
            </a:r>
            <a:endParaRPr lang="en-US" altLang="en-US" sz="1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Fast and efficient response system</a:t>
            </a:r>
            <a:endParaRPr lang="en-US" altLang="en-US" sz="1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Personalized music experience for each user</a:t>
            </a:r>
            <a:endParaRPr lang="en-US" altLang="en-US" sz="1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grpSp>
        <p:nvGrpSpPr>
          <p:cNvPr id="16" name="组合 15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404495" y="146685"/>
            <a:ext cx="28409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Features</a:t>
            </a:r>
            <a:endParaRPr lang="en-US" altLang="en-US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cxnSp>
        <p:nvCxnSpPr>
          <p:cNvPr id="2" name="直接连接符 1"/>
          <p:cNvCxnSpPr/>
          <p:nvPr>
            <p:custDataLst>
              <p:tags r:id="rId2"/>
            </p:custDataLst>
          </p:nvPr>
        </p:nvCxnSpPr>
        <p:spPr>
          <a:xfrm>
            <a:off x="225199" y="260215"/>
            <a:ext cx="0" cy="447472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文本框 39"/>
          <p:cNvSpPr txBox="1"/>
          <p:nvPr/>
        </p:nvSpPr>
        <p:spPr>
          <a:xfrm>
            <a:off x="915035" y="1238250"/>
            <a:ext cx="6315710" cy="2623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汉仪旗黑-50S" panose="00020600040101010101" charset="-122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Reduces time spent on manual music selection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Enhances user emotional experience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Smart AI-based automation system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Easy to use with minimal user effort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38692" y="1075157"/>
            <a:ext cx="3476707" cy="661936"/>
            <a:chOff x="6000208" y="1075157"/>
            <a:chExt cx="2915191" cy="661936"/>
          </a:xfrm>
        </p:grpSpPr>
        <p:sp>
          <p:nvSpPr>
            <p:cNvPr id="48" name="文本框 47"/>
            <p:cNvSpPr txBox="1"/>
            <p:nvPr/>
          </p:nvSpPr>
          <p:spPr>
            <a:xfrm>
              <a:off x="6000208" y="1403718"/>
              <a:ext cx="2915191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000209" y="1075157"/>
              <a:ext cx="2403132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endParaRPr lang="zh-CN" altLang="en-US" sz="1600">
                <a:cs typeface="Philosopher" panose="00000500000000000000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438692" y="2426465"/>
            <a:ext cx="3476707" cy="661936"/>
            <a:chOff x="6000208" y="2319536"/>
            <a:chExt cx="2915191" cy="661936"/>
          </a:xfrm>
        </p:grpSpPr>
        <p:sp>
          <p:nvSpPr>
            <p:cNvPr id="67" name="文本框 66"/>
            <p:cNvSpPr txBox="1"/>
            <p:nvPr/>
          </p:nvSpPr>
          <p:spPr>
            <a:xfrm>
              <a:off x="6000208" y="2648097"/>
              <a:ext cx="2915191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6000209" y="2319536"/>
              <a:ext cx="2403132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endParaRPr lang="zh-CN" altLang="en-US" sz="1600">
                <a:cs typeface="Philosopher" panose="00000500000000000000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438693" y="3777772"/>
            <a:ext cx="3476707" cy="661936"/>
            <a:chOff x="6000209" y="3707368"/>
            <a:chExt cx="2915191" cy="661936"/>
          </a:xfrm>
        </p:grpSpPr>
        <p:sp>
          <p:nvSpPr>
            <p:cNvPr id="73" name="文本框 72"/>
            <p:cNvSpPr txBox="1"/>
            <p:nvPr/>
          </p:nvSpPr>
          <p:spPr>
            <a:xfrm>
              <a:off x="6000209" y="4035929"/>
              <a:ext cx="2915191" cy="3333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defRPr>
              </a:lvl1pPr>
            </a:lstStyle>
            <a:p>
              <a:pPr>
                <a:buClr>
                  <a:schemeClr val="accent2"/>
                </a:buClr>
              </a:pPr>
              <a:endParaRPr lang="zh-CN" altLang="en-US">
                <a:solidFill>
                  <a:schemeClr val="bg1"/>
                </a:solidFill>
                <a:sym typeface="Open Sans" panose="020B0606030504020204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6000210" y="3707368"/>
              <a:ext cx="2403132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endParaRPr lang="zh-CN" altLang="en-US" sz="1600">
                <a:cs typeface="Philosopher" panose="00000500000000000000" charset="0"/>
              </a:endParaRPr>
            </a:p>
          </p:txBody>
        </p:sp>
      </p:grpSp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404495" y="146685"/>
            <a:ext cx="28409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Advantages</a:t>
            </a:r>
            <a:endParaRPr lang="en-US" altLang="en-US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25199" y="260215"/>
            <a:ext cx="0" cy="447472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897974" y="215127"/>
            <a:ext cx="40208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400" b="1" cap="all">
                <a:solidFill>
                  <a:srgbClr val="FCC896"/>
                </a:solidFill>
                <a:uFillTx/>
                <a:latin typeface="Philosopher" panose="00000500000000000000" charset="0"/>
                <a:ea typeface="+mj-ea"/>
                <a:cs typeface="Philosopher" panose="00000500000000000000" charset="0"/>
                <a:sym typeface="+mn-lt"/>
              </a:rPr>
              <a:t>Applications</a:t>
            </a:r>
            <a:endParaRPr lang="en-US" altLang="en-US" sz="4400" b="1" cap="all">
              <a:solidFill>
                <a:srgbClr val="FCC896"/>
              </a:solidFill>
              <a:uFillTx/>
              <a:latin typeface="Philosopher" panose="00000500000000000000" charset="0"/>
              <a:ea typeface="+mj-ea"/>
              <a:cs typeface="Philosopher" panose="00000500000000000000" charset="0"/>
              <a:sym typeface="+mn-lt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04545" y="1767205"/>
            <a:ext cx="5774690" cy="17913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defTabSz="6858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Music streaming applications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Mental health and relaxation apps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Study and concentration music tools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342900" indent="-342900" defTabSz="6858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rPr>
              <a:t>Entertainment and smart assistant systems</a:t>
            </a:r>
            <a:endParaRPr lang="en-US" altLang="en-US" sz="20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2504" y="95682"/>
            <a:ext cx="765162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YOUR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LOGO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802914" y="1456087"/>
            <a:ext cx="4709795" cy="2822324"/>
            <a:chOff x="3924914" y="1573984"/>
            <a:chExt cx="4709795" cy="2822324"/>
          </a:xfrm>
        </p:grpSpPr>
        <p:sp>
          <p:nvSpPr>
            <p:cNvPr id="25" name="矩形 24"/>
            <p:cNvSpPr/>
            <p:nvPr/>
          </p:nvSpPr>
          <p:spPr>
            <a:xfrm>
              <a:off x="3924914" y="1573984"/>
              <a:ext cx="2948305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zh-CN" altLang="en-US" sz="28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924914" y="1816554"/>
              <a:ext cx="4709795" cy="24066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汉仪旗黑-50S" panose="00020600040101010101" charset="-122"/>
                </a:defRPr>
              </a:lvl1pPr>
            </a:lstStyle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§"/>
              </a:pPr>
              <a:r>
                <a:rPr lang="en-US" altLang="en-US" sz="18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cs typeface="+mj-ea"/>
                </a:rPr>
                <a:t>The AI-based mood music player improves personalization of music experience</a:t>
              </a:r>
              <a:endPara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§"/>
              </a:pPr>
              <a:r>
                <a:rPr lang="en-US" altLang="en-US" sz="18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cs typeface="+mj-ea"/>
                </a:rPr>
                <a:t>It automatically adapts music based on user emotions</a:t>
              </a:r>
              <a:endPara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§"/>
              </a:pPr>
              <a:r>
                <a:rPr lang="en-US" altLang="en-US" sz="18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cs typeface="+mj-ea"/>
                </a:rPr>
                <a:t>The system is useful for both entertainment and mental well-being</a:t>
              </a:r>
              <a:endParaRPr lang="en-US" altLang="en-US" sz="1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cs typeface="+mj-ea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6522592" y="3518188"/>
              <a:ext cx="1678779" cy="878120"/>
              <a:chOff x="4263237" y="3384536"/>
              <a:chExt cx="1678779" cy="878120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4429157" y="3384536"/>
                <a:ext cx="1401109" cy="5219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800">
                  <a:ln w="38100">
                    <a:noFill/>
                  </a:ln>
                  <a:gradFill>
                    <a:gsLst>
                      <a:gs pos="0">
                        <a:srgbClr val="FCC490"/>
                      </a:gs>
                      <a:gs pos="100000">
                        <a:srgbClr val="FCC896"/>
                      </a:gs>
                    </a:gsLst>
                    <a:lin ang="0" scaled="1"/>
                  </a:gradFill>
                  <a:latin typeface="+mj-ea"/>
                  <a:ea typeface="+mj-ea"/>
                  <a:cs typeface="Philosopher" panose="00000500000000000000" charset="0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4263237" y="3925471"/>
                <a:ext cx="1678779" cy="337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>
                    <a:ln w="38100">
                      <a:noFill/>
                    </a:ln>
                    <a:gradFill>
                      <a:gsLst>
                        <a:gs pos="0">
                          <a:srgbClr val="FCC490"/>
                        </a:gs>
                        <a:gs pos="100000">
                          <a:srgbClr val="FCC896"/>
                        </a:gs>
                      </a:gsLst>
                      <a:lin ang="0" scaled="1"/>
                    </a:gradFill>
                    <a:latin typeface="+mj-ea"/>
                    <a:ea typeface="+mj-ea"/>
                  </a:defRPr>
                </a:lvl1pPr>
                <a:lvl2pPr defTabSz="914400"/>
                <a:lvl3pPr defTabSz="914400"/>
                <a:lvl4pPr defTabSz="914400"/>
                <a:lvl5pPr defTabSz="914400"/>
                <a:lvl6pPr defTabSz="914400"/>
                <a:lvl7pPr defTabSz="914400"/>
                <a:lvl8pPr defTabSz="914400"/>
                <a:lvl9pPr defTabSz="914400"/>
              </a:lstStyle>
              <a:p>
                <a:pPr algn="ctr"/>
                <a:endParaRPr lang="zh-CN" altLang="en-US" sz="1600">
                  <a:cs typeface="Philosopher" panose="00000500000000000000" charset="0"/>
                </a:endParaRPr>
              </a:p>
            </p:txBody>
          </p:sp>
        </p:grpSp>
      </p:grpSp>
      <p:grpSp>
        <p:nvGrpSpPr>
          <p:cNvPr id="24" name="组合 23" descr="e7d195523061f1c09e9d68d7cf438b91ef959ecb14fc25d26BBA7F7DBC18E55DFF4014AF651F0BF2569D4B6C1DA7F1A4683A481403BD872FC687266AD13265C1DE7C373772FD8728ABDD69ADD03BFF5BE2862BC891DBB79EE2A6E30E6FE81194330FB21A2231439EF5CF32DEC90DA5442C90092A2E639AD15262983E6029078C5D1C2FCBFA81BD5DA4E401C4A75218BD"/>
          <p:cNvGrpSpPr/>
          <p:nvPr/>
        </p:nvGrpSpPr>
        <p:grpSpPr>
          <a:xfrm>
            <a:off x="8433087" y="255838"/>
            <a:ext cx="474292" cy="136733"/>
            <a:chOff x="5516310" y="1016950"/>
            <a:chExt cx="474292" cy="136733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5516310" y="1016950"/>
              <a:ext cx="474292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5734228" y="1153683"/>
              <a:ext cx="256374" cy="0"/>
            </a:xfrm>
            <a:prstGeom prst="line">
              <a:avLst/>
            </a:prstGeom>
            <a:ln w="38100" cap="rnd">
              <a:solidFill>
                <a:srgbClr val="FCC89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>
            <p:custDataLst>
              <p:tags r:id="rId1"/>
            </p:custDataLst>
          </p:nvPr>
        </p:nvSpPr>
        <p:spPr>
          <a:xfrm>
            <a:off x="404495" y="146685"/>
            <a:ext cx="28409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ln w="38100">
                  <a:noFill/>
                </a:ln>
                <a:gradFill>
                  <a:gsLst>
                    <a:gs pos="0">
                      <a:srgbClr val="FCC490"/>
                    </a:gs>
                    <a:gs pos="100000">
                      <a:srgbClr val="FCC896"/>
                    </a:gs>
                  </a:gsLst>
                  <a:lin ang="0" scaled="1"/>
                </a:gradFill>
                <a:latin typeface="+mj-ea"/>
                <a:ea typeface="+mj-ea"/>
                <a:cs typeface="Philosopher" panose="00000500000000000000" charset="0"/>
                <a:sym typeface="+mn-lt"/>
              </a:rPr>
              <a:t>Conclusion</a:t>
            </a:r>
            <a:endParaRPr lang="en-US" altLang="en-US" sz="2400">
              <a:ln w="38100">
                <a:noFill/>
              </a:ln>
              <a:gradFill>
                <a:gsLst>
                  <a:gs pos="0">
                    <a:srgbClr val="FCC490"/>
                  </a:gs>
                  <a:gs pos="100000">
                    <a:srgbClr val="FCC896"/>
                  </a:gs>
                </a:gsLst>
                <a:lin ang="0" scaled="1"/>
              </a:gradFill>
              <a:latin typeface="+mj-ea"/>
              <a:ea typeface="+mj-ea"/>
              <a:cs typeface="Philosopher" panose="00000500000000000000" charset="0"/>
              <a:sym typeface="+mn-lt"/>
            </a:endParaRPr>
          </a:p>
        </p:txBody>
      </p:sp>
      <p:cxnSp>
        <p:nvCxnSpPr>
          <p:cNvPr id="2" name="直接连接符 1"/>
          <p:cNvCxnSpPr/>
          <p:nvPr>
            <p:custDataLst>
              <p:tags r:id="rId2"/>
            </p:custDataLst>
          </p:nvPr>
        </p:nvCxnSpPr>
        <p:spPr>
          <a:xfrm>
            <a:off x="225199" y="260215"/>
            <a:ext cx="0" cy="447472"/>
          </a:xfrm>
          <a:prstGeom prst="line">
            <a:avLst/>
          </a:prstGeom>
          <a:ln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04495" y="1382395"/>
            <a:ext cx="3086100" cy="29470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文本框 108"/>
          <p:cNvSpPr txBox="1"/>
          <p:nvPr/>
        </p:nvSpPr>
        <p:spPr>
          <a:xfrm>
            <a:off x="132504" y="95682"/>
            <a:ext cx="76516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YOUR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  <a:p>
            <a:r>
              <a:rPr lang="en-US" altLang="zh-CN" sz="1400" spc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Philosopher" panose="00000500000000000000" charset="0"/>
                <a:sym typeface="Open Sans" panose="020B0606030504020204" charset="0"/>
              </a:rPr>
              <a:t>LOGO</a:t>
            </a:r>
            <a:endParaRPr lang="en-US" altLang="zh-CN" sz="1400" spc="0">
              <a:solidFill>
                <a:schemeClr val="tx1">
                  <a:lumMod val="65000"/>
                  <a:lumOff val="35000"/>
                </a:schemeClr>
              </a:solidFill>
              <a:effectLst/>
              <a:cs typeface="Philosopher" panose="00000500000000000000" charset="0"/>
              <a:sym typeface="Open Sans" panose="020B060603050402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42379" y="1608651"/>
            <a:ext cx="3689985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THANKS FOR </a:t>
            </a:r>
            <a:endParaRPr lang="en-US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  <a:p>
            <a:pPr algn="l"/>
            <a:r>
              <a:rPr lang="en-US" sz="4400" b="1">
                <a:solidFill>
                  <a:srgbClr val="FCC896"/>
                </a:solidFill>
                <a:latin typeface="Philosopher" panose="00000500000000000000" charset="0"/>
                <a:ea typeface="+mj-ea"/>
                <a:cs typeface="Philosopher" panose="00000500000000000000" charset="0"/>
              </a:rPr>
              <a:t>WATCHING</a:t>
            </a:r>
            <a:endParaRPr lang="en-US" sz="4400" b="1">
              <a:solidFill>
                <a:srgbClr val="FCC896"/>
              </a:solidFill>
              <a:latin typeface="Philosopher" panose="00000500000000000000" charset="0"/>
              <a:ea typeface="+mj-ea"/>
              <a:cs typeface="Philosopher" panose="00000500000000000000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COMMONDATA" val="eyJoZGlkIjoiMmNmYmEwOWQ4Y2Q0M2IxMGZkNjI4ZjhkZDQyNzg1OTYifQ=="/>
  <p:tag name="KSO_WPP_MARK_KEY" val="aa8c7646-61de-48a2-bdbc-d3e5c7c21b55"/>
</p:tagLst>
</file>

<file path=ppt/theme/theme1.xml><?xml version="1.0" encoding="utf-8"?>
<a:theme xmlns:a="http://schemas.openxmlformats.org/drawingml/2006/main" name="Office 主题​​">
  <a:themeElements>
    <a:clrScheme name="自定义 95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CC896"/>
      </a:accent1>
      <a:accent2>
        <a:srgbClr val="E0A366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2022采购宋体思源宋体 CN Heavy">
      <a:majorFont>
        <a:latin typeface="Open Sans"/>
        <a:ea typeface="Philosopher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Philosopher"/>
        <a:font script="Hebr" typeface="Philosoph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hilosoph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Philosopher"/>
        <a:font script="Hebr" typeface="Philosoph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hilosoph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商务风通用营销策划模板</Template>
  <TotalTime>0</TotalTime>
  <Words>2492</Words>
  <Application>WPS Presentation</Application>
  <PresentationFormat>全屏显示(16:9)</PresentationFormat>
  <Paragraphs>102</Paragraphs>
  <Slides>11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Open Sans</vt:lpstr>
      <vt:lpstr>Philosopher</vt:lpstr>
      <vt:lpstr>Wingdings</vt:lpstr>
      <vt:lpstr>思源黑体 CN Heavy</vt:lpstr>
      <vt:lpstr>汉仪旗黑-50S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sukhavasi neha9063</cp:lastModifiedBy>
  <cp:revision>21</cp:revision>
  <dcterms:created xsi:type="dcterms:W3CDTF">2022-06-22T06:53:00Z</dcterms:created>
  <dcterms:modified xsi:type="dcterms:W3CDTF">2026-06-10T19:06:19Z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B372CB9250084E66AAA5418C0F21A006_11</vt:lpwstr>
  </property>
  <property fmtid="{D5CDD505-2E9C-101B-9397-08002B2CF9AE}" pid="3" name="KSOProductBuildVer">
    <vt:lpwstr>1033-12.1.0.26372</vt:lpwstr>
  </property>
</Properties>
</file>